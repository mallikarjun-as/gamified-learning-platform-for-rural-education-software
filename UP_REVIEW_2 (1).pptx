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93" r:id="rId3"/>
    <p:sldId id="280" r:id="rId4"/>
    <p:sldId id="269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75" r:id="rId16"/>
    <p:sldId id="291" r:id="rId17"/>
    <p:sldId id="292" r:id="rId18"/>
    <p:sldId id="273" r:id="rId19"/>
    <p:sldId id="277" r:id="rId20"/>
    <p:sldId id="268" r:id="rId21"/>
    <p:sldId id="270" r:id="rId22"/>
    <p:sldId id="26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jas Mayur.s" userId="df673b22c7cea7a4" providerId="LiveId" clId="{5320C6F0-8D6F-4907-8AA6-57002E6741FB}"/>
    <pc:docChg chg="undo custSel addSld delSld modSld sldOrd">
      <pc:chgData name="Thejas Mayur.s" userId="df673b22c7cea7a4" providerId="LiveId" clId="{5320C6F0-8D6F-4907-8AA6-57002E6741FB}" dt="2026-04-03T12:39:54.114" v="1003" actId="14100"/>
      <pc:docMkLst>
        <pc:docMk/>
      </pc:docMkLst>
      <pc:sldChg chg="addSp modSp new mod">
        <pc:chgData name="Thejas Mayur.s" userId="df673b22c7cea7a4" providerId="LiveId" clId="{5320C6F0-8D6F-4907-8AA6-57002E6741FB}" dt="2026-04-03T12:39:54.114" v="1003" actId="14100"/>
        <pc:sldMkLst>
          <pc:docMk/>
          <pc:sldMk cId="760881785" sldId="291"/>
        </pc:sldMkLst>
        <pc:spChg chg="mod">
          <ac:chgData name="Thejas Mayur.s" userId="df673b22c7cea7a4" providerId="LiveId" clId="{5320C6F0-8D6F-4907-8AA6-57002E6741FB}" dt="2026-04-02T14:20:35.808" v="997" actId="1076"/>
          <ac:spMkLst>
            <pc:docMk/>
            <pc:sldMk cId="760881785" sldId="291"/>
            <ac:spMk id="4" creationId="{CF7B8CBF-5254-2664-D6B9-332E1C1DDB96}"/>
          </ac:spMkLst>
        </pc:spChg>
        <pc:picChg chg="mod">
          <ac:chgData name="Thejas Mayur.s" userId="df673b22c7cea7a4" providerId="LiveId" clId="{5320C6F0-8D6F-4907-8AA6-57002E6741FB}" dt="2026-04-03T12:39:54.114" v="1003" actId="14100"/>
          <ac:picMkLst>
            <pc:docMk/>
            <pc:sldMk cId="760881785" sldId="291"/>
            <ac:picMk id="5" creationId="{0D32E154-A50B-AD42-67CA-56DFDA94F6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i="1" dirty="0"/>
              <a:t>Gamified Learning Platform for Rural Education	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CSE_171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IN" sz="1800" b="1" dirty="0">
                <a:ea typeface="Cambria" panose="02040503050406030204" pitchFamily="18" charset="0"/>
              </a:rPr>
              <a:t>Fathima Shana E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50945638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 Project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 H B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2E65E-38C4-44C3-2066-7F001EF61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68846"/>
              </p:ext>
            </p:extLst>
          </p:nvPr>
        </p:nvGraphicFramePr>
        <p:xfrm>
          <a:off x="197505" y="3205316"/>
          <a:ext cx="6095140" cy="1170093"/>
        </p:xfrm>
        <a:graphic>
          <a:graphicData uri="http://schemas.openxmlformats.org/drawingml/2006/table">
            <a:tbl>
              <a:tblPr firstRow="1" bandRow="1"/>
              <a:tblGrid>
                <a:gridCol w="3047570">
                  <a:extLst>
                    <a:ext uri="{9D8B030D-6E8A-4147-A177-3AD203B41FA5}">
                      <a16:colId xmlns:a16="http://schemas.microsoft.com/office/drawing/2014/main" val="2114254487"/>
                    </a:ext>
                  </a:extLst>
                </a:gridCol>
                <a:gridCol w="3047570">
                  <a:extLst>
                    <a:ext uri="{9D8B030D-6E8A-4147-A177-3AD203B41FA5}">
                      <a16:colId xmlns:a16="http://schemas.microsoft.com/office/drawing/2014/main" val="4149965772"/>
                    </a:ext>
                  </a:extLst>
                </a:gridCol>
              </a:tblGrid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THEJAS MAYUR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55916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VINAY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7122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20221CSE0382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MALLIKARJUN A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3171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3FB9-99A1-B768-5676-128D2138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838-8C2D-1E11-BD81-1A3B76879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Survey Overview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Conclusions from Literature Survey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Existing Methods &amp; Drawbacks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Technology Stack Components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Innovation or Novel Contributions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GitHub Link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Timeline of the Project (Gantt Chart)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5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56E2-3F5F-FC50-1FC1-AF0BCFDE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A58BE4-7B3E-E1EA-E847-EDFF873C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80327"/>
            <a:ext cx="910698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engagement in rural education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gamification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STEM learning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Research-driven design and modular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5422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b="0" i="1" u="sng" dirty="0"/>
              <a:t>SIH-25048</a:t>
            </a:r>
            <a:endParaRPr b="0" i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96035" y="702905"/>
            <a:ext cx="10279797" cy="358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66B20F-D402-DBCB-4F5F-6AA3D0534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441538"/>
            <a:ext cx="54505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 students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teaching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engaging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learning speeds are unsupported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STEM concept clarity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performance, low interest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E07A-AD7E-6459-8CD0-9AD960FF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(10 Papers)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FD304-A581-A367-F439-527806CCA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Beronova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Designing an Offline Interactive Educational Mobile Game App for STEM Learning,”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Novel Research and Development (IJNRD)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You and M. Sanmugam, “Literature Analysis on the Impact of Gamified Education on Engagement, Motivation, and Learning Outcomes among Rural Children in China,” J.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Pendidikan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Teknol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3, no. 2, pp. 68–79, 2024. 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F. Dos Santos, W. Oliveira and J. Hamari, “The Effects of Ecological Gamification on Learners’ Engagement: A Quasi-Experimental Study,” in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2024 IEEE International Conference on Advanced Learning Technologies (ICALT), pp. 8-9. 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36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B588-F9A3-8B3C-ADFD-854447AF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(10 Papers) Continued..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4BB4C-4957-E877-9F7B-21C3999A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Capecchi, A. Lieto, F. Patti, R. G. Pensa, A. Rapp, 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Vernero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Zingaro, “A Gamified Platform to Support Educational Activities about Fake News in Social Media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 Transactions on Learning Technologies, vol. XX, no. X, pp. 1–15, Apr. 2024,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10.1109/TLT.2024.3410088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“Interactive Learning Platforms and STEAM Education with Gamification,”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Advanced Research in Technology and Innovation, 2024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“Educational Games for Mobile Applications: A Systematic Literature Mapping” (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Jonathan José Cardoso de Sales &amp; Sandro Ronaldo Bezerra Oliveira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2025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020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2411-E13A-361E-8F2D-3C4A33BE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(10 Papers) Continued..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6F761-98E3-B79E-D6F7-53D4E20DE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Papadakis and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Kalogiannakis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“Using Gamification to Improve Students’ Learning in STEM Education: A Systematic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Review,”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Access, vol. 10, pp. 1–15, 2022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Barata, J. Gama, and D. Gonçalves,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“Improving Participation and Learning with Gamification,”</a:t>
            </a:r>
          </a:p>
          <a:p>
            <a:pPr marL="7620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Advanced Learning Technologies (ICALT), 2021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Mora, D. Riera, C. González, and J. Arnedo-Moreno,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“Gamification: A Systematic Review of Design Frameworks,”</a:t>
            </a:r>
          </a:p>
          <a:p>
            <a:pPr marL="7620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Global Engineering Education Conference (EDUCON), 2017.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4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505F-5D10-21C2-D2D0-55F674E9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(10 Papers) Continued..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8DA6C-CCE1-A4D7-96B2-3D01E73F2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Z.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Xi, J. Hamari,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Effect of Challenge-Based Gamification on Learning,”</a:t>
            </a:r>
          </a:p>
          <a:p>
            <a:pPr marL="7620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Learning Technologies, 2020.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332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DD0E-E196-6E4E-B243-30A1DD40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93F0-0B6C-EE0B-CB27-5C48E6268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Multiple studies [1],[2],[8],[10] confirm that gamification significantly improves engagement and learning outcomes .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gamification has shown better effectiveness compared to generic approaches [3],[6],[10].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Challenge-based learning approaches outperform passive learning methods [1],[8],[10]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Gamified platforms are particularly effective for STEM  education [1],[5],[7]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77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F942-F627-6E10-A639-D416D957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FE9FF-A640-FDD5-1E22-6DEED8EAD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Simple and intuitive interfaces significantly improve usability and learner engagement [1],[4],[6].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Feedback mechanisms and reward systems play a key role in sustaining learner motivation [3],[8],[10].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Teacher supervision and performance analytics improve instructional effectiveness [1],[4],[5]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Context-aware and culturally relevant content increases learner engagement [2],[4],[6].</a:t>
            </a:r>
          </a:p>
          <a:p>
            <a:pPr marL="762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Long-term evaluation of learning outcomes is necessary to validate educational effectiveness [6],[8],[10].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11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37D4-F8B3-0D74-7952-05731832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Conclusions from Literature Survey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BD4165-9846-E285-E5CE-2F73B876B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6740"/>
            <a:ext cx="10668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improves engagement and learning outcomes.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gamification is more effective than generic design.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Challenge-based learning outperforms passive learning.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 learning benefits from interactive games.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UI improves usability and engagement.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Feedback, rewards, and progress tracking sustain motivation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monitoring improves learning effectiveness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content increases rural learner participation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 validates learning outcomes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5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B04C99-7A6C-8DC7-9324-C6D87321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18B48-CAFE-973B-7BF1-507297F22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2C2FFB-6B74-DFA4-1555-D5EC2BAE35A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 Offline Interactive Educational Mobile Game App for STEM Learning [1].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Analysis on the Impact of Gamified Education on Engagement, Motivation, and Learning Outcomes among Rural Children in China. [2]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Effects of Ecological Gamification on Learners . [3]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D25D51-DDC5-87D6-73EF-CA6C1E4E6B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40753C-654E-93C1-02C0-F8AAD2AD7483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Android devices only.[1]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digital infrastructure in rural areas. The study focused only on preschool children [2].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focus on rural or low-resource environments. [3]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460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F5C4-0583-B0B9-0EE8-DB90BF16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C5724A-26F4-F5D4-3AD0-0D149DCC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6F4CD-588F-256E-A3FC-F552F3B11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33D8E-05FE-04F6-A2AB-BDB09E5BF35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Gamified Platform to Support Educational Activities about Fake News in Social Media.[4]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 Platforms and STEAM Education with Gamification . [5]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Games for Mobile Applications: A Systematic Literature Mapping [6]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74EA7F-8EE7-CE2B-E997-60CE2123FA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28B3C9-9463-13F1-990B-B8A565B0DB8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only on fake news education, not STEM subjects. [4]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mainly on teacher education, not school students [5]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standardization in educational game development.[6]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18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4B76-5C4F-0FC0-C449-EDF6869A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D9C463-DE01-9CA1-8383-2A9413EC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F2AFE-6A73-DE51-E332-FD8D2E1D4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5F771A-E81D-D03A-97D7-C83516D3A32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Gamification to Improve Students’ Learning in STEM Education . [7]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Participation and Learning with Gamification . [8]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Gamification: A Systematic Review of Design Frameworks . [9]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 of Challenge-Based Gamification on Learning [10]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4EC1FF-6E5D-9D93-DFF0-51317C765A8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686108-89F5-0EE3-F151-5FFB19A8812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only on science, not full STEM[7]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only on college-level education [8]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direct system or platform implementation[9] 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academic classroom settings [10]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04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4FB83D-AFC6-F6DD-F11A-8FDEBD66A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6499" y="1004903"/>
            <a:ext cx="632737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 Learning Platform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 Education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Game-Based Learning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Content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 Support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Progress Tracking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Scores &amp; Performance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Rewards &amp; Levels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411936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183C-BBFC-F30C-9D0F-65BB59FD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60729-DBE0-49ED-A819-2A547D4E3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2E154-A50B-AD42-67CA-56DFDA94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1"/>
            <a:ext cx="12192000" cy="6676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7B8CBF-5254-2664-D6B9-332E1C1DDB96}"/>
              </a:ext>
            </a:extLst>
          </p:cNvPr>
          <p:cNvSpPr/>
          <p:nvPr/>
        </p:nvSpPr>
        <p:spPr>
          <a:xfrm>
            <a:off x="13004800" y="3170903"/>
            <a:ext cx="570271" cy="258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88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226-72CA-4C2D-7A77-E1703B89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06A0C1-6687-3C2B-255A-D90A7D319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33221"/>
            <a:ext cx="38181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Engine</a:t>
            </a:r>
          </a:p>
          <a:p>
            <a:pPr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Logic</a:t>
            </a:r>
          </a:p>
          <a:p>
            <a:pPr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 &amp; Analytics</a:t>
            </a:r>
          </a:p>
        </p:txBody>
      </p:sp>
    </p:spTree>
    <p:extLst>
      <p:ext uri="{BB962C8B-B14F-4D97-AF65-F5344CB8AC3E}">
        <p14:creationId xmlns:p14="http://schemas.microsoft.com/office/powerpoint/2010/main" val="2521530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BB5AA-6677-EEBA-0FC0-987639FC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232" y="30501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711200" y="1050667"/>
            <a:ext cx="110830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(Student &amp; Teacher Interface)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(Application Logic)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/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Engine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Score, levels, badges, rewards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STEM lessons, quizzes, and games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translation (Google Translator API)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93820"/>
            <a:ext cx="586250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STEM Learning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Learning Support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Progress Tracking and Rewards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Rural-Focused Digital Education Platform</a:t>
            </a:r>
          </a:p>
        </p:txBody>
      </p:sp>
    </p:spTree>
    <p:extLst>
      <p:ext uri="{BB962C8B-B14F-4D97-AF65-F5344CB8AC3E}">
        <p14:creationId xmlns:p14="http://schemas.microsoft.com/office/powerpoint/2010/main" val="3892273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https://github.com/vinay18082004/University_project_CSE_171.git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6392E5-C3A9-5ED4-0E40-CE6DA3205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012722"/>
            <a:ext cx="10287000" cy="496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1328</Words>
  <Application>Microsoft Office PowerPoint</Application>
  <PresentationFormat>Widescreen</PresentationFormat>
  <Paragraphs>213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</vt:lpstr>
      <vt:lpstr>Times New Roman</vt:lpstr>
      <vt:lpstr>Verdana</vt:lpstr>
      <vt:lpstr>Bioinformatics</vt:lpstr>
      <vt:lpstr>Gamified Learning Platform for Rural Education Software</vt:lpstr>
      <vt:lpstr>Content</vt:lpstr>
      <vt:lpstr>Abstract</vt:lpstr>
      <vt:lpstr>Problem Statement Number: SIH-25048</vt:lpstr>
      <vt:lpstr>Literature Survey (10 Papers)</vt:lpstr>
      <vt:lpstr>Literature Survey (10 Papers) Continued..</vt:lpstr>
      <vt:lpstr>Literature Survey (10 Papers) Continued..</vt:lpstr>
      <vt:lpstr>Literature Survey (10 Papers) Continued..</vt:lpstr>
      <vt:lpstr>Literature Survey Overview</vt:lpstr>
      <vt:lpstr>Literature Survey Overview</vt:lpstr>
      <vt:lpstr>Key Conclusions from Literature Survey</vt:lpstr>
      <vt:lpstr>Existing Methods &amp; Drawbacks</vt:lpstr>
      <vt:lpstr>Existing Methods &amp; Drawbacks</vt:lpstr>
      <vt:lpstr>Existing Methods &amp; Drawbacks</vt:lpstr>
      <vt:lpstr>Objectives</vt:lpstr>
      <vt:lpstr>System Architecture</vt:lpstr>
      <vt:lpstr>Modules</vt:lpstr>
      <vt:lpstr>Technology Stack Components:</vt:lpstr>
      <vt:lpstr>Innovation or Novel Contributions</vt:lpstr>
      <vt:lpstr>Github Link</vt:lpstr>
      <vt:lpstr>Timeline of the Project (Gantt Chart)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Thejas Mayur.s</cp:lastModifiedBy>
  <cp:revision>59</cp:revision>
  <dcterms:modified xsi:type="dcterms:W3CDTF">2026-04-03T12:40:02Z</dcterms:modified>
</cp:coreProperties>
</file>