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9" r:id="rId4"/>
    <p:sldId id="275" r:id="rId5"/>
    <p:sldId id="276" r:id="rId6"/>
    <p:sldId id="273" r:id="rId7"/>
    <p:sldId id="272" r:id="rId8"/>
    <p:sldId id="277" r:id="rId9"/>
    <p:sldId id="268" r:id="rId10"/>
    <p:sldId id="270" r:id="rId11"/>
    <p:sldId id="278" r:id="rId12"/>
    <p:sldId id="279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BA5AEF-9850-4192-83E1-73E6A98D35BC}" v="27" dt="2025-08-12T11:04:39.467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jas Mayur.s" userId="df673b22c7cea7a4" providerId="LiveId" clId="{9FBA5AEF-9850-4192-83E1-73E6A98D35BC}"/>
    <pc:docChg chg="undo custSel addSld delSld modSld sldOrd">
      <pc:chgData name="Thejas Mayur.s" userId="df673b22c7cea7a4" providerId="LiveId" clId="{9FBA5AEF-9850-4192-83E1-73E6A98D35BC}" dt="2025-08-12T11:05:51.327" v="276" actId="20577"/>
      <pc:docMkLst>
        <pc:docMk/>
      </pc:docMkLst>
      <pc:sldChg chg="addSp modSp mod">
        <pc:chgData name="Thejas Mayur.s" userId="df673b22c7cea7a4" providerId="LiveId" clId="{9FBA5AEF-9850-4192-83E1-73E6A98D35BC}" dt="2025-08-12T10:28:05.051" v="108" actId="20577"/>
        <pc:sldMkLst>
          <pc:docMk/>
          <pc:sldMk cId="0" sldId="256"/>
        </pc:sldMkLst>
        <pc:spChg chg="add mod">
          <ac:chgData name="Thejas Mayur.s" userId="df673b22c7cea7a4" providerId="LiveId" clId="{9FBA5AEF-9850-4192-83E1-73E6A98D35BC}" dt="2025-08-12T10:24:10.269" v="8" actId="767"/>
          <ac:spMkLst>
            <pc:docMk/>
            <pc:sldMk cId="0" sldId="256"/>
            <ac:spMk id="2" creationId="{B7C3A2B2-A3B6-ED75-7E1E-FCBBAFAEDC62}"/>
          </ac:spMkLst>
        </pc:spChg>
        <pc:spChg chg="mod">
          <ac:chgData name="Thejas Mayur.s" userId="df673b22c7cea7a4" providerId="LiveId" clId="{9FBA5AEF-9850-4192-83E1-73E6A98D35BC}" dt="2025-08-12T10:25:48.690" v="96"/>
          <ac:spMkLst>
            <pc:docMk/>
            <pc:sldMk cId="0" sldId="256"/>
            <ac:spMk id="87" creationId="{00000000-0000-0000-0000-000000000000}"/>
          </ac:spMkLst>
        </pc:spChg>
        <pc:spChg chg="mod">
          <ac:chgData name="Thejas Mayur.s" userId="df673b22c7cea7a4" providerId="LiveId" clId="{9FBA5AEF-9850-4192-83E1-73E6A98D35BC}" dt="2025-08-12T10:28:05.051" v="108" actId="20577"/>
          <ac:spMkLst>
            <pc:docMk/>
            <pc:sldMk cId="0" sldId="256"/>
            <ac:spMk id="90" creationId="{00000000-0000-0000-0000-000000000000}"/>
          </ac:spMkLst>
        </pc:spChg>
        <pc:graphicFrameChg chg="add mod modGraphic">
          <ac:chgData name="Thejas Mayur.s" userId="df673b22c7cea7a4" providerId="LiveId" clId="{9FBA5AEF-9850-4192-83E1-73E6A98D35BC}" dt="2025-08-12T10:25:22.162" v="82" actId="20577"/>
          <ac:graphicFrameMkLst>
            <pc:docMk/>
            <pc:sldMk cId="0" sldId="256"/>
            <ac:graphicFrameMk id="3" creationId="{D172E65E-38C4-44C3-2066-7F001EF61B91}"/>
          </ac:graphicFrameMkLst>
        </pc:graphicFrameChg>
        <pc:graphicFrameChg chg="modGraphic">
          <ac:chgData name="Thejas Mayur.s" userId="df673b22c7cea7a4" providerId="LiveId" clId="{9FBA5AEF-9850-4192-83E1-73E6A98D35BC}" dt="2025-08-12T10:23:36.895" v="2" actId="14100"/>
          <ac:graphicFrameMkLst>
            <pc:docMk/>
            <pc:sldMk cId="0" sldId="256"/>
            <ac:graphicFrameMk id="89" creationId="{00000000-0000-0000-0000-000000000000}"/>
          </ac:graphicFrameMkLst>
        </pc:graphicFrameChg>
      </pc:sldChg>
      <pc:sldChg chg="modSp mod">
        <pc:chgData name="Thejas Mayur.s" userId="df673b22c7cea7a4" providerId="LiveId" clId="{9FBA5AEF-9850-4192-83E1-73E6A98D35BC}" dt="2025-08-12T10:44:20.248" v="152"/>
        <pc:sldMkLst>
          <pc:docMk/>
          <pc:sldMk cId="0" sldId="265"/>
        </pc:sldMkLst>
        <pc:spChg chg="mod">
          <ac:chgData name="Thejas Mayur.s" userId="df673b22c7cea7a4" providerId="LiveId" clId="{9FBA5AEF-9850-4192-83E1-73E6A98D35BC}" dt="2025-08-12T10:44:20.248" v="152"/>
          <ac:spMkLst>
            <pc:docMk/>
            <pc:sldMk cId="0" sldId="265"/>
            <ac:spMk id="145" creationId="{00000000-0000-0000-0000-000000000000}"/>
          </ac:spMkLst>
        </pc:spChg>
      </pc:sldChg>
      <pc:sldChg chg="modSp mod ord">
        <pc:chgData name="Thejas Mayur.s" userId="df673b22c7cea7a4" providerId="LiveId" clId="{9FBA5AEF-9850-4192-83E1-73E6A98D35BC}" dt="2025-08-12T11:05:51.327" v="276" actId="20577"/>
        <pc:sldMkLst>
          <pc:docMk/>
          <pc:sldMk cId="2856357337" sldId="268"/>
        </pc:sldMkLst>
        <pc:spChg chg="mod">
          <ac:chgData name="Thejas Mayur.s" userId="df673b22c7cea7a4" providerId="LiveId" clId="{9FBA5AEF-9850-4192-83E1-73E6A98D35BC}" dt="2025-08-12T11:05:51.327" v="276" actId="20577"/>
          <ac:spMkLst>
            <pc:docMk/>
            <pc:sldMk cId="2856357337" sldId="268"/>
            <ac:spMk id="5" creationId="{00000000-0000-0000-0000-000000000000}"/>
          </ac:spMkLst>
        </pc:spChg>
      </pc:sldChg>
      <pc:sldChg chg="addSp modSp mod">
        <pc:chgData name="Thejas Mayur.s" userId="df673b22c7cea7a4" providerId="LiveId" clId="{9FBA5AEF-9850-4192-83E1-73E6A98D35BC}" dt="2025-08-12T10:33:05.268" v="142" actId="113"/>
        <pc:sldMkLst>
          <pc:docMk/>
          <pc:sldMk cId="2143451837" sldId="269"/>
        </pc:sldMkLst>
        <pc:spChg chg="add">
          <ac:chgData name="Thejas Mayur.s" userId="df673b22c7cea7a4" providerId="LiveId" clId="{9FBA5AEF-9850-4192-83E1-73E6A98D35BC}" dt="2025-08-12T10:31:45.319" v="129"/>
          <ac:spMkLst>
            <pc:docMk/>
            <pc:sldMk cId="2143451837" sldId="269"/>
            <ac:spMk id="2" creationId="{EB175B54-2A87-6514-4BAF-AF8B26D6F366}"/>
          </ac:spMkLst>
        </pc:spChg>
        <pc:spChg chg="add mod">
          <ac:chgData name="Thejas Mayur.s" userId="df673b22c7cea7a4" providerId="LiveId" clId="{9FBA5AEF-9850-4192-83E1-73E6A98D35BC}" dt="2025-08-12T10:32:51.787" v="141" actId="1076"/>
          <ac:spMkLst>
            <pc:docMk/>
            <pc:sldMk cId="2143451837" sldId="269"/>
            <ac:spMk id="3" creationId="{BE58DE58-DC8F-612D-1A55-97EE16AD9B96}"/>
          </ac:spMkLst>
        </pc:spChg>
        <pc:spChg chg="mod">
          <ac:chgData name="Thejas Mayur.s" userId="df673b22c7cea7a4" providerId="LiveId" clId="{9FBA5AEF-9850-4192-83E1-73E6A98D35BC}" dt="2025-08-12T10:28:57.515" v="110" actId="113"/>
          <ac:spMkLst>
            <pc:docMk/>
            <pc:sldMk cId="2143451837" sldId="269"/>
            <ac:spMk id="96" creationId="{00000000-0000-0000-0000-000000000000}"/>
          </ac:spMkLst>
        </pc:spChg>
        <pc:spChg chg="mod">
          <ac:chgData name="Thejas Mayur.s" userId="df673b22c7cea7a4" providerId="LiveId" clId="{9FBA5AEF-9850-4192-83E1-73E6A98D35BC}" dt="2025-08-12T10:33:05.268" v="142" actId="113"/>
          <ac:spMkLst>
            <pc:docMk/>
            <pc:sldMk cId="2143451837" sldId="269"/>
            <ac:spMk id="97" creationId="{00000000-0000-0000-0000-000000000000}"/>
          </ac:spMkLst>
        </pc:spChg>
      </pc:sldChg>
      <pc:sldChg chg="addSp delSp modSp mod">
        <pc:chgData name="Thejas Mayur.s" userId="df673b22c7cea7a4" providerId="LiveId" clId="{9FBA5AEF-9850-4192-83E1-73E6A98D35BC}" dt="2025-08-12T11:05:32.505" v="275" actId="1076"/>
        <pc:sldMkLst>
          <pc:docMk/>
          <pc:sldMk cId="479890276" sldId="270"/>
        </pc:sldMkLst>
        <pc:spChg chg="del mod">
          <ac:chgData name="Thejas Mayur.s" userId="df673b22c7cea7a4" providerId="LiveId" clId="{9FBA5AEF-9850-4192-83E1-73E6A98D35BC}" dt="2025-08-12T11:05:28.287" v="274" actId="21"/>
          <ac:spMkLst>
            <pc:docMk/>
            <pc:sldMk cId="479890276" sldId="270"/>
            <ac:spMk id="115" creationId="{00000000-0000-0000-0000-000000000000}"/>
          </ac:spMkLst>
        </pc:spChg>
        <pc:picChg chg="add mod">
          <ac:chgData name="Thejas Mayur.s" userId="df673b22c7cea7a4" providerId="LiveId" clId="{9FBA5AEF-9850-4192-83E1-73E6A98D35BC}" dt="2025-08-12T11:05:32.505" v="275" actId="1076"/>
          <ac:picMkLst>
            <pc:docMk/>
            <pc:sldMk cId="479890276" sldId="270"/>
            <ac:picMk id="5" creationId="{E7C38046-1AD4-A486-E1F4-8187518D4E95}"/>
          </ac:picMkLst>
        </pc:picChg>
      </pc:sldChg>
      <pc:sldChg chg="addSp modSp mod">
        <pc:chgData name="Thejas Mayur.s" userId="df673b22c7cea7a4" providerId="LiveId" clId="{9FBA5AEF-9850-4192-83E1-73E6A98D35BC}" dt="2025-08-12T10:54:46.396" v="253" actId="1076"/>
        <pc:sldMkLst>
          <pc:docMk/>
          <pc:sldMk cId="2000455742" sldId="271"/>
        </pc:sldMkLst>
        <pc:spChg chg="add mod">
          <ac:chgData name="Thejas Mayur.s" userId="df673b22c7cea7a4" providerId="LiveId" clId="{9FBA5AEF-9850-4192-83E1-73E6A98D35BC}" dt="2025-08-12T10:53:58.404" v="239" actId="2711"/>
          <ac:spMkLst>
            <pc:docMk/>
            <pc:sldMk cId="2000455742" sldId="271"/>
            <ac:spMk id="10" creationId="{59067C91-2707-0F66-716F-96C80212C87F}"/>
          </ac:spMkLst>
        </pc:spChg>
        <pc:spChg chg="add mod">
          <ac:chgData name="Thejas Mayur.s" userId="df673b22c7cea7a4" providerId="LiveId" clId="{9FBA5AEF-9850-4192-83E1-73E6A98D35BC}" dt="2025-08-12T10:54:46.396" v="253" actId="1076"/>
          <ac:spMkLst>
            <pc:docMk/>
            <pc:sldMk cId="2000455742" sldId="271"/>
            <ac:spMk id="11" creationId="{CA31730A-5EBB-1182-2E65-927449C62702}"/>
          </ac:spMkLst>
        </pc:spChg>
        <pc:spChg chg="mod">
          <ac:chgData name="Thejas Mayur.s" userId="df673b22c7cea7a4" providerId="LiveId" clId="{9FBA5AEF-9850-4192-83E1-73E6A98D35BC}" dt="2025-08-12T10:53:09.202" v="221" actId="20577"/>
          <ac:spMkLst>
            <pc:docMk/>
            <pc:sldMk cId="2000455742" sldId="271"/>
            <ac:spMk id="115" creationId="{00000000-0000-0000-0000-000000000000}"/>
          </ac:spMkLst>
        </pc:spChg>
        <pc:picChg chg="add mod">
          <ac:chgData name="Thejas Mayur.s" userId="df673b22c7cea7a4" providerId="LiveId" clId="{9FBA5AEF-9850-4192-83E1-73E6A98D35BC}" dt="2025-08-12T10:51:58.484" v="203" actId="14100"/>
          <ac:picMkLst>
            <pc:docMk/>
            <pc:sldMk cId="2000455742" sldId="271"/>
            <ac:picMk id="3" creationId="{8C1E4B2D-123B-E3ED-37A9-D380A181D16A}"/>
          </ac:picMkLst>
        </pc:picChg>
        <pc:picChg chg="add mod">
          <ac:chgData name="Thejas Mayur.s" userId="df673b22c7cea7a4" providerId="LiveId" clId="{9FBA5AEF-9850-4192-83E1-73E6A98D35BC}" dt="2025-08-12T10:51:58.484" v="203" actId="14100"/>
          <ac:picMkLst>
            <pc:docMk/>
            <pc:sldMk cId="2000455742" sldId="271"/>
            <ac:picMk id="5" creationId="{A1608C97-AB3F-2CA0-78F9-122E0F7723AD}"/>
          </ac:picMkLst>
        </pc:picChg>
        <pc:picChg chg="add mod">
          <ac:chgData name="Thejas Mayur.s" userId="df673b22c7cea7a4" providerId="LiveId" clId="{9FBA5AEF-9850-4192-83E1-73E6A98D35BC}" dt="2025-08-12T10:52:20.883" v="206" actId="14100"/>
          <ac:picMkLst>
            <pc:docMk/>
            <pc:sldMk cId="2000455742" sldId="271"/>
            <ac:picMk id="7" creationId="{0751A8E5-7E39-148E-C5BC-DE2BA1A175CD}"/>
          </ac:picMkLst>
        </pc:picChg>
        <pc:picChg chg="add mod">
          <ac:chgData name="Thejas Mayur.s" userId="df673b22c7cea7a4" providerId="LiveId" clId="{9FBA5AEF-9850-4192-83E1-73E6A98D35BC}" dt="2025-08-12T10:52:44.744" v="209" actId="1076"/>
          <ac:picMkLst>
            <pc:docMk/>
            <pc:sldMk cId="2000455742" sldId="271"/>
            <ac:picMk id="9" creationId="{386303D1-735B-236A-1E42-F5FB732848DF}"/>
          </ac:picMkLst>
        </pc:picChg>
      </pc:sldChg>
      <pc:sldChg chg="addSp modSp add del mod">
        <pc:chgData name="Thejas Mayur.s" userId="df673b22c7cea7a4" providerId="LiveId" clId="{9FBA5AEF-9850-4192-83E1-73E6A98D35BC}" dt="2025-08-12T10:46:16.112" v="190" actId="14100"/>
        <pc:sldMkLst>
          <pc:docMk/>
          <pc:sldMk cId="3338832548" sldId="272"/>
        </pc:sldMkLst>
        <pc:spChg chg="mod">
          <ac:chgData name="Thejas Mayur.s" userId="df673b22c7cea7a4" providerId="LiveId" clId="{9FBA5AEF-9850-4192-83E1-73E6A98D35BC}" dt="2025-08-12T10:46:06.608" v="188" actId="20577"/>
          <ac:spMkLst>
            <pc:docMk/>
            <pc:sldMk cId="3338832548" sldId="272"/>
            <ac:spMk id="115" creationId="{00000000-0000-0000-0000-000000000000}"/>
          </ac:spMkLst>
        </pc:spChg>
        <pc:picChg chg="add mod">
          <ac:chgData name="Thejas Mayur.s" userId="df673b22c7cea7a4" providerId="LiveId" clId="{9FBA5AEF-9850-4192-83E1-73E6A98D35BC}" dt="2025-08-12T10:46:16.112" v="190" actId="14100"/>
          <ac:picMkLst>
            <pc:docMk/>
            <pc:sldMk cId="3338832548" sldId="272"/>
            <ac:picMk id="3" creationId="{B707AF35-F306-13AB-6E8D-F6C110D3BB83}"/>
          </ac:picMkLst>
        </pc:picChg>
      </pc:sldChg>
      <pc:sldChg chg="addSp modSp">
        <pc:chgData name="Thejas Mayur.s" userId="df673b22c7cea7a4" providerId="LiveId" clId="{9FBA5AEF-9850-4192-83E1-73E6A98D35BC}" dt="2025-08-12T10:35:15.563" v="145" actId="1076"/>
        <pc:sldMkLst>
          <pc:docMk/>
          <pc:sldMk cId="1030816154" sldId="273"/>
        </pc:sldMkLst>
        <pc:spChg chg="add mod">
          <ac:chgData name="Thejas Mayur.s" userId="df673b22c7cea7a4" providerId="LiveId" clId="{9FBA5AEF-9850-4192-83E1-73E6A98D35BC}" dt="2025-08-12T10:35:15.563" v="145" actId="1076"/>
          <ac:spMkLst>
            <pc:docMk/>
            <pc:sldMk cId="1030816154" sldId="273"/>
            <ac:spMk id="2" creationId="{A7ABB5AA-6677-EEBA-0FC0-987639FC6BC1}"/>
          </ac:spMkLst>
        </pc:spChg>
      </pc:sldChg>
      <pc:sldChg chg="del">
        <pc:chgData name="Thejas Mayur.s" userId="df673b22c7cea7a4" providerId="LiveId" clId="{9FBA5AEF-9850-4192-83E1-73E6A98D35BC}" dt="2025-08-12T10:33:13.253" v="143" actId="2696"/>
        <pc:sldMkLst>
          <pc:docMk/>
          <pc:sldMk cId="2637979550" sldId="274"/>
        </pc:sldMkLst>
      </pc:sldChg>
      <pc:sldChg chg="modSp new mod ord">
        <pc:chgData name="Thejas Mayur.s" userId="df673b22c7cea7a4" providerId="LiveId" clId="{9FBA5AEF-9850-4192-83E1-73E6A98D35BC}" dt="2025-08-12T10:56:25.830" v="264"/>
        <pc:sldMkLst>
          <pc:docMk/>
          <pc:sldMk cId="3082402555" sldId="274"/>
        </pc:sldMkLst>
        <pc:spChg chg="mod">
          <ac:chgData name="Thejas Mayur.s" userId="df673b22c7cea7a4" providerId="LiveId" clId="{9FBA5AEF-9850-4192-83E1-73E6A98D35BC}" dt="2025-08-12T10:55:33.811" v="257"/>
          <ac:spMkLst>
            <pc:docMk/>
            <pc:sldMk cId="3082402555" sldId="274"/>
            <ac:spMk id="2" creationId="{7379FD6B-1731-C786-9F5F-CA875BD12EA3}"/>
          </ac:spMkLst>
        </pc:spChg>
        <pc:spChg chg="mod">
          <ac:chgData name="Thejas Mayur.s" userId="df673b22c7cea7a4" providerId="LiveId" clId="{9FBA5AEF-9850-4192-83E1-73E6A98D35BC}" dt="2025-08-12T10:56:25.830" v="264"/>
          <ac:spMkLst>
            <pc:docMk/>
            <pc:sldMk cId="3082402555" sldId="274"/>
            <ac:spMk id="3" creationId="{78D20B7B-C716-2F4B-A5D3-DAC74C4BAAC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i="1" dirty="0" err="1"/>
              <a:t>Gamified</a:t>
            </a:r>
            <a:r>
              <a:rPr lang="en-US" sz="2400" i="1" dirty="0"/>
              <a:t> Learning Platform for Rural Education	Software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CSE_171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</a:t>
            </a: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Prof.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</a:t>
            </a:r>
            <a:r>
              <a:rPr lang="en-IN" sz="1800" b="1" dirty="0" err="1">
                <a:ea typeface="Cambria" panose="02040503050406030204" pitchFamily="18" charset="0"/>
              </a:rPr>
              <a:t>Fathima</a:t>
            </a:r>
            <a:r>
              <a:rPr lang="en-IN" sz="1800" b="1" dirty="0">
                <a:ea typeface="Cambria" panose="02040503050406030204" pitchFamily="18" charset="0"/>
              </a:rPr>
              <a:t> Shana E</a:t>
            </a:r>
            <a:endParaRPr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650945638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Asif Mohamed H B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Jayavadivel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Ravi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72E65E-38C4-44C3-2066-7F001EF61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868846"/>
              </p:ext>
            </p:extLst>
          </p:nvPr>
        </p:nvGraphicFramePr>
        <p:xfrm>
          <a:off x="197505" y="3205316"/>
          <a:ext cx="6095140" cy="1170093"/>
        </p:xfrm>
        <a:graphic>
          <a:graphicData uri="http://schemas.openxmlformats.org/drawingml/2006/table">
            <a:tbl>
              <a:tblPr firstRow="1" bandRow="1"/>
              <a:tblGrid>
                <a:gridCol w="3047570">
                  <a:extLst>
                    <a:ext uri="{9D8B030D-6E8A-4147-A177-3AD203B41FA5}">
                      <a16:colId xmlns:a16="http://schemas.microsoft.com/office/drawing/2014/main" val="2114254487"/>
                    </a:ext>
                  </a:extLst>
                </a:gridCol>
                <a:gridCol w="3047570">
                  <a:extLst>
                    <a:ext uri="{9D8B030D-6E8A-4147-A177-3AD203B41FA5}">
                      <a16:colId xmlns:a16="http://schemas.microsoft.com/office/drawing/2014/main" val="4149965772"/>
                    </a:ext>
                  </a:extLst>
                </a:gridCol>
              </a:tblGrid>
              <a:tr h="390031">
                <a:tc>
                  <a:txBody>
                    <a:bodyPr/>
                    <a:lstStyle/>
                    <a:p>
                      <a:r>
                        <a:rPr lang="en-US" dirty="0"/>
                        <a:t>20221CSE0344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THEJAS MAYUR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755916"/>
                  </a:ext>
                </a:extLst>
              </a:tr>
              <a:tr h="390031">
                <a:tc>
                  <a:txBody>
                    <a:bodyPr/>
                    <a:lstStyle/>
                    <a:p>
                      <a:r>
                        <a:rPr lang="en-US" dirty="0"/>
                        <a:t>20221CSE0345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VINAY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457122"/>
                  </a:ext>
                </a:extLst>
              </a:tr>
              <a:tr h="390031">
                <a:tc>
                  <a:txBody>
                    <a:bodyPr/>
                    <a:lstStyle/>
                    <a:p>
                      <a:r>
                        <a:rPr lang="en-US" dirty="0"/>
                        <a:t>20221CSE0382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MALLIKARJUN A 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3171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IN" b="0" i="1" u="sng" dirty="0"/>
              <a:t>SIH-25048</a:t>
            </a:r>
            <a:endParaRPr b="0" i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96035" y="702905"/>
            <a:ext cx="10279797" cy="358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66B20F-D402-DBCB-4F5F-6AA3D0534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2116517"/>
            <a:ext cx="476604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 students lack resources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teaching not engaging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learning speeds unsupported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barriers reduce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STEM concept clarity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performance, low interest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94FB83D-AFC6-F6DD-F11A-8FDEBD66A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8176" y="1137206"/>
            <a:ext cx="568937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Gamified Learning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STEM Education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Game-Based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Content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Language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Progress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Analytics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Scores &amp;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Rewards &amp; Levels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Learning Outcomes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936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9C7C1B1-3320-515A-371F-AB6F29541D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344972"/>
            <a:ext cx="495840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quality needs internet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Urban focused limited languages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Gamification boosts engagement retention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Rural challenges unmet platforms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integrated rural solution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11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190500" algn="just">
              <a:buClr>
                <a:schemeClr val="dk1"/>
              </a:buClr>
              <a:buSzPct val="1000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ABB5AA-6677-EEBA-0FC0-987639FC6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232" y="305014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 rot="10800000" flipV="1">
            <a:off x="711200" y="912168"/>
            <a:ext cx="11083037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(Student &amp; Teacher Interface)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CSS, JavaScript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(for interactive UI)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(Application Logic)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(Flask /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 / PostgreSQL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Gamification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Engine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Score, levels, badges, rewards logic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Management System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STEM lessons, quizzes, and games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Multilingual Support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translation (Google Translator API)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Services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Hosting, data storage, and API services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AutoShape 2" descr="blob:https://web.whatsapp.com/0da3b043-979e-44bf-9da9-ff5f2514143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 descr="blob:https://web.whatsapp.com/0da3b043-979e-44bf-9da9-ff5f2514143d"/>
          <p:cNvSpPr>
            <a:spLocks noChangeAspect="1" noChangeArrowheads="1"/>
          </p:cNvSpPr>
          <p:nvPr/>
        </p:nvSpPr>
        <p:spPr bwMode="auto">
          <a:xfrm>
            <a:off x="307975" y="7937"/>
            <a:ext cx="7853386" cy="785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136FFD-A72A-2EFC-E2AF-2E1C0AE3F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490" y="914538"/>
            <a:ext cx="10291020" cy="518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693820"/>
            <a:ext cx="550823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Gamification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-based STEM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Learning Support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 Progress Tracking and Rewards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Rural-Focused Digital Education Platform</a:t>
            </a:r>
          </a:p>
        </p:txBody>
      </p:sp>
    </p:spTree>
    <p:extLst>
      <p:ext uri="{BB962C8B-B14F-4D97-AF65-F5344CB8AC3E}">
        <p14:creationId xmlns:p14="http://schemas.microsoft.com/office/powerpoint/2010/main" val="3892273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Link:</a:t>
            </a:r>
          </a:p>
          <a:p>
            <a:pPr marL="342900" lvl="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https://github.com/vinay18082004/University_project_CSE_171.git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38046-1AD4-A486-E1F4-8187518D4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1059425"/>
            <a:ext cx="8468032" cy="508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772841"/>
            <a:ext cx="106680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[1]</a:t>
            </a:r>
            <a:r>
              <a:rPr lang="en-US" sz="1800" i="1" dirty="0">
                <a:solidFill>
                  <a:schemeClr val="tx1"/>
                </a:solidFill>
                <a:latin typeface="Arial" panose="020B0604020202020204" pitchFamily="34" charset="0"/>
              </a:rPr>
              <a:t>   “</a:t>
            </a:r>
            <a:r>
              <a:rPr lang="en-US" sz="1800" i="1" dirty="0" err="1">
                <a:solidFill>
                  <a:schemeClr val="tx1"/>
                </a:solidFill>
                <a:latin typeface="Arial" panose="020B0604020202020204" pitchFamily="34" charset="0"/>
              </a:rPr>
              <a:t>Beronova</a:t>
            </a:r>
            <a:r>
              <a:rPr lang="en-US" sz="1800" i="1" dirty="0">
                <a:solidFill>
                  <a:schemeClr val="tx1"/>
                </a:solidFill>
                <a:latin typeface="Arial" panose="020B0604020202020204" pitchFamily="34" charset="0"/>
              </a:rPr>
              <a:t>: Designing an Offline Interactive Educational Mobile Game App for STEM Learning,”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International Journal for Novel Research and Development (IJNRD)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2025.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[2]   X. You and M. Sanmugam, </a:t>
            </a:r>
            <a:r>
              <a:rPr lang="en-US" sz="1800" i="1" dirty="0">
                <a:solidFill>
                  <a:schemeClr val="tx1"/>
                </a:solidFill>
                <a:latin typeface="Arial" panose="020B0604020202020204" pitchFamily="34" charset="0"/>
              </a:rPr>
              <a:t>“Literature Analysis on the Impact of Gamified Education on Engagement, Motivation, and Learning Outcomes among Rural Children in China,”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J. Pendidikan 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Teknol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. 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Informasi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dan </a:t>
            </a:r>
            <a:r>
              <a:rPr 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Komunikasi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vol. 3, no. 2, pp. 68–79, 2024. 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[3]   L. F. Dos Santos, W. Oliveira and J. Hamari, </a:t>
            </a:r>
            <a:r>
              <a:rPr lang="en-US" sz="1800" i="1" dirty="0">
                <a:solidFill>
                  <a:schemeClr val="tx1"/>
                </a:solidFill>
                <a:latin typeface="Arial" panose="020B0604020202020204" pitchFamily="34" charset="0"/>
              </a:rPr>
              <a:t>“The Effects of Ecological Gamification on Learners’ Engagement: A Quasi-Experimental Study,”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in </a:t>
            </a:r>
            <a:r>
              <a:rPr 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Proceedings of the 2024 IEEE International Conference on Advanced Learning Technologies (ICALT)</a:t>
            </a:r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pp. 8-9.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[4]   S. Capecchi, A. Lieto, F. Patti, R. G. Pensa, A. Rapp, F.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Vernero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S. Zingaro, </a:t>
            </a: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 Gamified Platform to Support Educational Activities about Fake News in Social Media,”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Transactions on Learning Technologies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XX, no. X, pp. 1–15, Apr. 2024,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10.1109/TLT.2024.3410088.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[5]    P. Palee, </a:t>
            </a:r>
            <a:r>
              <a:rPr kumimoji="0" 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“Interactive Learning Platforms and STEAM Education with Gamification,”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 of Advanced Research in Technology and Innovation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2024. </a:t>
            </a:r>
          </a:p>
        </p:txBody>
      </p:sp>
    </p:spTree>
    <p:extLst>
      <p:ext uri="{BB962C8B-B14F-4D97-AF65-F5344CB8AC3E}">
        <p14:creationId xmlns:p14="http://schemas.microsoft.com/office/powerpoint/2010/main" val="2630870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26208-CCDA-E862-A295-4D6695C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 with pros and cons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DB183-AEBA-3BFB-37DE-D210B574F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81261B-1E5A-66BE-54A1-D4F8FC5E1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260569"/>
              </p:ext>
            </p:extLst>
          </p:nvPr>
        </p:nvGraphicFramePr>
        <p:xfrm>
          <a:off x="812800" y="1257300"/>
          <a:ext cx="10668000" cy="4724400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253645617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68603081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4470128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n>
                            <a:noFill/>
                          </a:ln>
                        </a:rPr>
                        <a:t>Paper Title</a:t>
                      </a:r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n>
                            <a:noFill/>
                          </a:ln>
                        </a:rPr>
                        <a:t>Pros (Advantages)</a:t>
                      </a:r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n>
                            <a:noFill/>
                          </a:ln>
                        </a:rPr>
                        <a:t>Cons (Limitations)</a:t>
                      </a:r>
                      <a:endParaRPr lang="en-US">
                        <a:ln>
                          <a:noFill/>
                        </a:ln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614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 err="1">
                          <a:ln>
                            <a:noFill/>
                          </a:ln>
                        </a:rPr>
                        <a:t>Beronova</a:t>
                      </a:r>
                      <a:r>
                        <a:rPr lang="en-US" b="1" dirty="0">
                          <a:ln>
                            <a:noFill/>
                          </a:ln>
                        </a:rPr>
                        <a:t>: Designing an Interactive Educational Android-Based Mobile Game Application for Enhanced STEM Education</a:t>
                      </a:r>
                      <a:r>
                        <a:rPr lang="en-US" dirty="0">
                          <a:ln>
                            <a:noFill/>
                          </a:ln>
                        </a:rPr>
                        <a:t> </a:t>
                      </a:r>
                    </a:p>
                    <a:p>
                      <a:pPr>
                        <a:buNone/>
                      </a:pPr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n>
                            <a:noFill/>
                          </a:ln>
                        </a:rPr>
                        <a:t>• Useful for rural areas </a:t>
                      </a:r>
                      <a:br>
                        <a:rPr lang="en-US" dirty="0">
                          <a:ln>
                            <a:noFill/>
                          </a:ln>
                        </a:rPr>
                      </a:br>
                      <a:r>
                        <a:rPr lang="en-US" dirty="0">
                          <a:ln>
                            <a:noFill/>
                          </a:ln>
                        </a:rPr>
                        <a:t>• Improves STEM engagement through gamified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br>
                        <a:rPr lang="en-US" dirty="0">
                          <a:ln>
                            <a:noFill/>
                          </a:ln>
                        </a:rPr>
                      </a:br>
                      <a:r>
                        <a:rPr lang="en-US" dirty="0">
                          <a:ln>
                            <a:noFill/>
                          </a:ln>
                        </a:rPr>
                        <a:t>• Limited to selected STEM subjects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123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n>
                            <a:noFill/>
                          </a:ln>
                        </a:rPr>
                        <a:t>Literature Analysis on the Impact of Gamified Education on Engagement, Motivation, and Learning Outcomes Among Preschool Children in Rural Communities in China</a:t>
                      </a:r>
                      <a:r>
                        <a:rPr lang="en-US" dirty="0">
                          <a:ln>
                            <a:noFill/>
                          </a:ln>
                        </a:rPr>
                        <a:t> </a:t>
                      </a:r>
                    </a:p>
                    <a:p>
                      <a:pPr>
                        <a:buNone/>
                      </a:pPr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n>
                            <a:noFill/>
                          </a:ln>
                        </a:rPr>
                        <a:t>• Improves motivation and learning </a:t>
                      </a:r>
                      <a:br>
                        <a:rPr lang="en-US" dirty="0">
                          <a:ln>
                            <a:noFill/>
                          </a:ln>
                        </a:rPr>
                      </a:br>
                      <a:r>
                        <a:rPr lang="en-US" dirty="0">
                          <a:ln>
                            <a:noFill/>
                          </a:ln>
                        </a:rPr>
                        <a:t>• Preserves rural cultural values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</a:rPr>
                        <a:t>• Depends on digital infrastructure </a:t>
                      </a:r>
                      <a:br>
                        <a:rPr lang="en-US">
                          <a:ln>
                            <a:noFill/>
                          </a:ln>
                        </a:rPr>
                      </a:br>
                      <a:r>
                        <a:rPr lang="en-US">
                          <a:ln>
                            <a:noFill/>
                          </a:ln>
                        </a:rPr>
                        <a:t>• Focused only on preschool children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349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n>
                            <a:noFill/>
                          </a:ln>
                        </a:rPr>
                        <a:t>The Effects of Ecological Gamification on Learners’ Engagement: A Quasi-Experimental Study</a:t>
                      </a:r>
                      <a:r>
                        <a:rPr lang="en-US" dirty="0">
                          <a:ln>
                            <a:noFill/>
                          </a:ln>
                        </a:rPr>
                        <a:t> </a:t>
                      </a:r>
                    </a:p>
                    <a:p>
                      <a:pPr>
                        <a:buNone/>
                      </a:pPr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</a:rPr>
                        <a:t>• Supports personalized gamification </a:t>
                      </a:r>
                      <a:br>
                        <a:rPr lang="en-US">
                          <a:ln>
                            <a:noFill/>
                          </a:ln>
                        </a:rPr>
                      </a:br>
                      <a:r>
                        <a:rPr lang="en-US">
                          <a:ln>
                            <a:noFill/>
                          </a:ln>
                        </a:rPr>
                        <a:t>• Improves learner engagement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</a:rPr>
                        <a:t>• Small sample size </a:t>
                      </a:r>
                      <a:br>
                        <a:rPr lang="en-US">
                          <a:ln>
                            <a:noFill/>
                          </a:ln>
                        </a:rPr>
                      </a:br>
                      <a:r>
                        <a:rPr lang="en-US">
                          <a:ln>
                            <a:noFill/>
                          </a:ln>
                        </a:rPr>
                        <a:t>• Results may not apply to all learners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933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n>
                            <a:noFill/>
                          </a:ln>
                        </a:rPr>
                        <a:t>A Gamified Platform to Support Educational Activities About Fake News in Social Media</a:t>
                      </a:r>
                      <a:r>
                        <a:rPr lang="en-US" dirty="0">
                          <a:ln>
                            <a:noFill/>
                          </a:ln>
                        </a:rPr>
                        <a:t> </a:t>
                      </a:r>
                    </a:p>
                    <a:p>
                      <a:pPr>
                        <a:buNone/>
                      </a:pPr>
                      <a:endParaRPr lang="en-US" dirty="0">
                        <a:ln>
                          <a:noFill/>
                        </a:ln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n>
                            <a:noFill/>
                          </a:ln>
                        </a:rPr>
                        <a:t>• Develops critical thinking </a:t>
                      </a:r>
                      <a:br>
                        <a:rPr lang="en-US">
                          <a:ln>
                            <a:noFill/>
                          </a:ln>
                        </a:rPr>
                      </a:br>
                      <a:r>
                        <a:rPr lang="en-US">
                          <a:ln>
                            <a:noFill/>
                          </a:ln>
                        </a:rPr>
                        <a:t>• Provides teacher monitoring and reports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n>
                            <a:noFill/>
                          </a:ln>
                        </a:rPr>
                        <a:t>• Needs teacher supervision </a:t>
                      </a:r>
                      <a:br>
                        <a:rPr lang="en-US" dirty="0">
                          <a:ln>
                            <a:noFill/>
                          </a:ln>
                        </a:rPr>
                      </a:br>
                      <a:r>
                        <a:rPr lang="en-US" dirty="0">
                          <a:ln>
                            <a:noFill/>
                          </a:ln>
                        </a:rPr>
                        <a:t>• Focused only on fake news topic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127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6996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807</Words>
  <Application>Microsoft Office PowerPoint</Application>
  <PresentationFormat>Widescreen</PresentationFormat>
  <Paragraphs>150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Cambria</vt:lpstr>
      <vt:lpstr>Times New Roman</vt:lpstr>
      <vt:lpstr>Verdana</vt:lpstr>
      <vt:lpstr>Wingdings</vt:lpstr>
      <vt:lpstr>Bioinformatics</vt:lpstr>
      <vt:lpstr>Gamified Learning Platform for Rural Education Software</vt:lpstr>
      <vt:lpstr>Content</vt:lpstr>
      <vt:lpstr>Problem Statement Number: SIH-25048</vt:lpstr>
      <vt:lpstr>Objectives</vt:lpstr>
      <vt:lpstr>Background and Related work for title Selection </vt:lpstr>
      <vt:lpstr>Technology Stack Components:</vt:lpstr>
      <vt:lpstr>Analysis of Problem Statement (contd...)</vt:lpstr>
      <vt:lpstr>Innovation or Novel Contributions</vt:lpstr>
      <vt:lpstr>Github Link</vt:lpstr>
      <vt:lpstr>Timeline of the Project (Gantt Chart)</vt:lpstr>
      <vt:lpstr>References (IEEE Paper format)</vt:lpstr>
      <vt:lpstr>References (IEEE Paper format) with pros and cons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VINAY S</cp:lastModifiedBy>
  <cp:revision>57</cp:revision>
  <dcterms:modified xsi:type="dcterms:W3CDTF">2026-01-12T07:31:28Z</dcterms:modified>
</cp:coreProperties>
</file>